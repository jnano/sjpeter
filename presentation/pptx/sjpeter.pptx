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1F2A44"/>
                </a:solidFill>
                <a:latin typeface="Apple SD Gothic Neo"/>
              </a:rPr>
              <a:t>세종성베드로성당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8C6F2E"/>
                </a:solidFill>
                <a:latin typeface="Apple SD Gothic Neo"/>
              </a:rPr>
              <a:t>공식 홈페이지 소개</a:t>
            </a:r>
          </a:p>
        </p:txBody>
      </p:sp>
      <p:sp>
        <p:nvSpPr>
          <p:cNvPr id="5" name="Rectangle 4"/>
          <p:cNvSpPr/>
          <p:nvPr/>
        </p:nvSpPr>
        <p:spPr>
          <a:xfrm>
            <a:off x="5733288" y="4206240"/>
            <a:ext cx="731520" cy="36576"/>
          </a:xfrm>
          <a:prstGeom prst="rect">
            <a:avLst/>
          </a:prstGeom>
          <a:solidFill>
            <a:srgbClr val="C9A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6B7280"/>
                </a:solidFill>
                <a:latin typeface="Apple SD Gothic Neo"/>
              </a:rPr>
              <a:t>본당 사목과 운영을 돕는 보조 수단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Apple SD Gothic Neo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862"/>
                </a:solidFill>
                <a:latin typeface="Apple SD Gothic Neo"/>
              </a:rPr>
              <a:t>기 · 도입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Apple SD Gothic Neo"/>
              </a:rPr>
              <a:t>들어가며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972800" cy="18288"/>
          </a:xfrm>
          <a:prstGeom prst="rect">
            <a:avLst/>
          </a:prstGeom>
          <a:solidFill>
            <a:srgbClr val="E5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7280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800">
                <a:solidFill>
                  <a:srgbClr val="3A4358"/>
                </a:solidFill>
                <a:latin typeface="Apple SD Gothic Neo"/>
              </a:rPr>
              <a:t>홈페이지는 본당 사목과 운영을 </a:t>
            </a:r>
            <a:r>
              <a:rPr sz="1800" b="1">
                <a:solidFill>
                  <a:srgbClr val="8C6F2E"/>
                </a:solidFill>
                <a:latin typeface="Apple SD Gothic Neo"/>
              </a:rPr>
              <a:t>돕는 보조 수단</a:t>
            </a:r>
            <a:r>
              <a:rPr sz="1800">
                <a:solidFill>
                  <a:srgbClr val="3A4358"/>
                </a:solidFill>
                <a:latin typeface="Apple SD Gothic Neo"/>
              </a:rPr>
              <a:t>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0972800" cy="1188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700">
                <a:solidFill>
                  <a:srgbClr val="3A4358"/>
                </a:solidFill>
                <a:latin typeface="Apple SD Gothic Neo"/>
              </a:rPr>
              <a:t>본당의 일들이 일어나는 곳은 성전과 공동체 안이고, 홈페이지는 그것을 </a:t>
            </a:r>
            <a:r>
              <a:rPr sz="1700" b="1">
                <a:solidFill>
                  <a:srgbClr val="8C6F2E"/>
                </a:solidFill>
                <a:latin typeface="Apple SD Gothic Neo"/>
              </a:rPr>
              <a:t>알리고 기록하고 다시 찾을 수 있게</a:t>
            </a:r>
            <a:r>
              <a:rPr sz="1700">
                <a:solidFill>
                  <a:srgbClr val="3A4358"/>
                </a:solidFill>
                <a:latin typeface="Apple SD Gothic Neo"/>
              </a:rPr>
              <a:t> 거드는 자리에 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97680"/>
            <a:ext cx="1097280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700">
                <a:solidFill>
                  <a:srgbClr val="3A4358"/>
                </a:solidFill>
                <a:latin typeface="Apple SD Gothic Neo"/>
              </a:rPr>
              <a:t>오늘 이 자료에서는 </a:t>
            </a:r>
            <a:r>
              <a:rPr sz="1700" b="1">
                <a:solidFill>
                  <a:srgbClr val="8C6F2E"/>
                </a:solidFill>
                <a:latin typeface="Apple SD Gothic Neo"/>
              </a:rPr>
              <a:t>현재 홈페이지가 실제로 하고 있는 일</a:t>
            </a:r>
            <a:r>
              <a:rPr sz="1700">
                <a:solidFill>
                  <a:srgbClr val="3A4358"/>
                </a:solidFill>
                <a:latin typeface="Apple SD Gothic Neo"/>
              </a:rPr>
              <a:t>을 정리해 말씀드립니다.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pple SD Gothic Neo"/>
              </a:rPr>
              <a:t>본당 사목과 운영을 돕는 보조 수단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600" b="1">
                <a:solidFill>
                  <a:srgbClr val="1F2A44"/>
                </a:solidFill>
                <a:latin typeface="Apple SD Gothic Neo"/>
              </a:rPr>
              <a:t>현재 운영 중인 여섯 가지 기능</a:t>
            </a:r>
          </a:p>
        </p:txBody>
      </p:sp>
      <p:sp>
        <p:nvSpPr>
          <p:cNvPr id="4" name="Rectangle 3"/>
          <p:cNvSpPr/>
          <p:nvPr/>
        </p:nvSpPr>
        <p:spPr>
          <a:xfrm>
            <a:off x="5641848" y="4160520"/>
            <a:ext cx="914400" cy="36576"/>
          </a:xfrm>
          <a:prstGeom prst="rect">
            <a:avLst/>
          </a:prstGeom>
          <a:solidFill>
            <a:srgbClr val="C9A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862"/>
                </a:solidFill>
                <a:latin typeface="Apple SD Gothic Neo"/>
              </a:rPr>
              <a:t>승 · 전개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Apple SD Gothic Neo"/>
              </a:rPr>
              <a:t>여섯 가지 기능 한눈에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972800" cy="18288"/>
          </a:xfrm>
          <a:prstGeom prst="rect">
            <a:avLst/>
          </a:prstGeom>
          <a:solidFill>
            <a:srgbClr val="E5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345429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345429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862"/>
                </a:solidFill>
                <a:latin typeface="Apple SD Gothic Ne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30885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A44"/>
                </a:solidFill>
                <a:latin typeface="Apple SD Gothic Neo"/>
              </a:rPr>
              <a:t>오늘의 말씀 + 묵상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26080"/>
            <a:ext cx="308853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ple SD Gothic Neo"/>
              </a:rPr>
              <a:t>매일의 복음을 첫 화면에서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8698" y="1920240"/>
            <a:ext cx="345429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7298" y="2103120"/>
            <a:ext cx="345429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862"/>
                </a:solidFill>
                <a:latin typeface="Apple SD Gothic Ne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7298" y="2423160"/>
            <a:ext cx="30885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A44"/>
                </a:solidFill>
                <a:latin typeface="Apple SD Gothic Neo"/>
              </a:rPr>
              <a:t>성전건축 일지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926080"/>
            <a:ext cx="308853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ple SD Gothic Neo"/>
              </a:rPr>
              <a:t>단계별 기록과 사진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7316" y="1920240"/>
            <a:ext cx="345429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5916" y="2103120"/>
            <a:ext cx="345429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862"/>
                </a:solidFill>
                <a:latin typeface="Apple SD Gothic Ne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5916" y="2423160"/>
            <a:ext cx="30885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A44"/>
                </a:solidFill>
                <a:latin typeface="Apple SD Gothic Neo"/>
              </a:rPr>
              <a:t>내 관심 단체·모임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5916" y="2926080"/>
            <a:ext cx="308853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ple SD Gothic Neo"/>
              </a:rPr>
              <a:t>선택한 활동의 소식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886200"/>
            <a:ext cx="345429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069080"/>
            <a:ext cx="345429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862"/>
                </a:solidFill>
                <a:latin typeface="Apple SD Gothic Neo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389120"/>
            <a:ext cx="30885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A44"/>
                </a:solidFill>
                <a:latin typeface="Apple SD Gothic Neo"/>
              </a:rPr>
              <a:t>주보 AI 추출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892040"/>
            <a:ext cx="308853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ple SD Gothic Neo"/>
              </a:rPr>
              <a:t>공지·행사·모임 자동 정리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68698" y="3886200"/>
            <a:ext cx="345429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7298" y="4069080"/>
            <a:ext cx="345429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862"/>
                </a:solidFill>
                <a:latin typeface="Apple SD Gothic Neo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7298" y="4389120"/>
            <a:ext cx="30885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A44"/>
                </a:solidFill>
                <a:latin typeface="Apple SD Gothic Neo"/>
              </a:rPr>
              <a:t>본당 역사 저장소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7298" y="4892040"/>
            <a:ext cx="308853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ple SD Gothic Neo"/>
              </a:rPr>
              <a:t>한자리에 누적되는 기록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97316" y="3886200"/>
            <a:ext cx="345429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5916" y="4069080"/>
            <a:ext cx="345429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862"/>
                </a:solidFill>
                <a:latin typeface="Apple SD Gothic Neo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5916" y="4389120"/>
            <a:ext cx="30885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A44"/>
                </a:solidFill>
                <a:latin typeface="Apple SD Gothic Neo"/>
              </a:rPr>
              <a:t>보안성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5916" y="4892040"/>
            <a:ext cx="308853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ple SD Gothic Neo"/>
              </a:rPr>
              <a:t>암호화·백업·인증된 관리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300">
                <a:solidFill>
                  <a:srgbClr val="6B7280"/>
                </a:solidFill>
                <a:latin typeface="Apple SD Gothic Neo"/>
              </a:rPr>
              <a:t>추가로 </a:t>
            </a:r>
            <a:r>
              <a:rPr sz="1300" b="1">
                <a:solidFill>
                  <a:srgbClr val="8C6F2E"/>
                </a:solidFill>
                <a:latin typeface="Apple SD Gothic Neo"/>
              </a:rPr>
              <a:t>카카오 채널 연동</a:t>
            </a:r>
            <a:r>
              <a:rPr sz="1300">
                <a:solidFill>
                  <a:srgbClr val="6B7280"/>
                </a:solidFill>
                <a:latin typeface="Apple SD Gothic Neo"/>
              </a:rPr>
              <a:t>을 준비하고 있습니다.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pple SD Gothic Neo"/>
              </a:rPr>
              <a:t>본당 사목과 운영을 돕는 보조 수단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862"/>
                </a:solidFill>
                <a:latin typeface="Apple SD Gothic Neo"/>
              </a:rPr>
              <a:t>승 · 전개  · 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Apple SD Gothic Neo"/>
              </a:rPr>
              <a:t>오늘의 말씀 + 묵상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972800" cy="18288"/>
          </a:xfrm>
          <a:prstGeom prst="rect">
            <a:avLst/>
          </a:prstGeom>
          <a:solidFill>
            <a:srgbClr val="E5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2066544"/>
            <a:ext cx="91440" cy="91440"/>
          </a:xfrm>
          <a:prstGeom prst="ellipse">
            <a:avLst/>
          </a:prstGeom>
          <a:solidFill>
            <a:srgbClr val="C9A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20240"/>
            <a:ext cx="106984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600">
                <a:solidFill>
                  <a:srgbClr val="3A4358"/>
                </a:solidFill>
                <a:latin typeface="Apple SD Gothic Neo"/>
              </a:rPr>
              <a:t>매일의 복음 말씀을 홈페이지 첫 화면에서 바로 만날 수 있습니다.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660904"/>
            <a:ext cx="91440" cy="91440"/>
          </a:xfrm>
          <a:prstGeom prst="ellipse">
            <a:avLst/>
          </a:prstGeom>
          <a:solidFill>
            <a:srgbClr val="C9A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514600"/>
            <a:ext cx="106984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600">
                <a:solidFill>
                  <a:srgbClr val="3A4358"/>
                </a:solidFill>
                <a:latin typeface="Apple SD Gothic Neo"/>
              </a:rPr>
              <a:t>묵상 글이 일정 주기로 자동으로 바뀌며, 따로 찾지 않아도 자연스레 눈에 들어옵니다.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255264"/>
            <a:ext cx="91440" cy="91440"/>
          </a:xfrm>
          <a:prstGeom prst="ellipse">
            <a:avLst/>
          </a:prstGeom>
          <a:solidFill>
            <a:srgbClr val="C9A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108960"/>
            <a:ext cx="106984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600">
                <a:solidFill>
                  <a:srgbClr val="3A4358"/>
                </a:solidFill>
                <a:latin typeface="Apple SD Gothic Neo"/>
              </a:rPr>
              <a:t>본당에 방문하지 못한 날에도 말씀 한 구절을 만나도록 돕는 자리입니다.</a:t>
            </a:r>
          </a:p>
        </p:txBody>
      </p:sp>
      <p:pic>
        <p:nvPicPr>
          <p:cNvPr id="12" name="Picture 11" descr="01-word-medi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754880"/>
            <a:ext cx="10972800" cy="14630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pple SD Gothic Neo"/>
              </a:rPr>
              <a:t>본당 사목과 운영을 돕는 보조 수단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862"/>
                </a:solidFill>
                <a:latin typeface="Apple SD Gothic Neo"/>
              </a:rPr>
              <a:t>승 · 전개  · 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Apple SD Gothic Neo"/>
              </a:rPr>
              <a:t>성전건축 일지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972800" cy="18288"/>
          </a:xfrm>
          <a:prstGeom prst="rect">
            <a:avLst/>
          </a:prstGeom>
          <a:solidFill>
            <a:srgbClr val="E5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2066544"/>
            <a:ext cx="91440" cy="91440"/>
          </a:xfrm>
          <a:prstGeom prst="ellipse">
            <a:avLst/>
          </a:prstGeom>
          <a:solidFill>
            <a:srgbClr val="C9A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20240"/>
            <a:ext cx="106984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600">
                <a:solidFill>
                  <a:srgbClr val="3A4358"/>
                </a:solidFill>
                <a:latin typeface="Apple SD Gothic Neo"/>
              </a:rPr>
              <a:t>성전건축의 진행 과정을 </a:t>
            </a:r>
            <a:r>
              <a:rPr sz="1600" b="1">
                <a:solidFill>
                  <a:srgbClr val="8C6F2E"/>
                </a:solidFill>
                <a:latin typeface="Apple SD Gothic Neo"/>
              </a:rPr>
              <a:t>단계별 기록</a:t>
            </a:r>
            <a:r>
              <a:rPr sz="1600">
                <a:solidFill>
                  <a:srgbClr val="3A4358"/>
                </a:solidFill>
                <a:latin typeface="Apple SD Gothic Neo"/>
              </a:rPr>
              <a:t>과 </a:t>
            </a:r>
            <a:r>
              <a:rPr sz="1600" b="1">
                <a:solidFill>
                  <a:srgbClr val="8C6F2E"/>
                </a:solidFill>
                <a:latin typeface="Apple SD Gothic Neo"/>
              </a:rPr>
              <a:t>사진</a:t>
            </a:r>
            <a:r>
              <a:rPr sz="1600">
                <a:solidFill>
                  <a:srgbClr val="3A4358"/>
                </a:solidFill>
                <a:latin typeface="Apple SD Gothic Neo"/>
              </a:rPr>
              <a:t>으로 남깁니다.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660904"/>
            <a:ext cx="91440" cy="91440"/>
          </a:xfrm>
          <a:prstGeom prst="ellipse">
            <a:avLst/>
          </a:prstGeom>
          <a:solidFill>
            <a:srgbClr val="C9A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514600"/>
            <a:ext cx="106984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600">
                <a:solidFill>
                  <a:srgbClr val="3A4358"/>
                </a:solidFill>
                <a:latin typeface="Apple SD Gothic Neo"/>
              </a:rPr>
              <a:t>일지를 한 줄씩 누적해 시간이 지나도 그 흐름을 다시 따라갈 수 있습니다.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255264"/>
            <a:ext cx="91440" cy="91440"/>
          </a:xfrm>
          <a:prstGeom prst="ellipse">
            <a:avLst/>
          </a:prstGeom>
          <a:solidFill>
            <a:srgbClr val="C9A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108960"/>
            <a:ext cx="106984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600">
                <a:solidFill>
                  <a:srgbClr val="3A4358"/>
                </a:solidFill>
                <a:latin typeface="Apple SD Gothic Neo"/>
              </a:rPr>
              <a:t>본당 전체가 함께한 시간을 자료로 보관하는 자리입니다.</a:t>
            </a:r>
          </a:p>
        </p:txBody>
      </p:sp>
      <p:pic>
        <p:nvPicPr>
          <p:cNvPr id="12" name="Picture 11" descr="02-construction-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754880"/>
            <a:ext cx="10972800" cy="14630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pple SD Gothic Neo"/>
              </a:rPr>
              <a:t>본당 사목과 운영을 돕는 보조 수단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862"/>
                </a:solidFill>
                <a:latin typeface="Apple SD Gothic Neo"/>
              </a:rPr>
              <a:t>승 · 전개  · 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Apple SD Gothic Neo"/>
              </a:rPr>
              <a:t>내 관심 단체·모임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972800" cy="18288"/>
          </a:xfrm>
          <a:prstGeom prst="rect">
            <a:avLst/>
          </a:prstGeom>
          <a:solidFill>
            <a:srgbClr val="E5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2066544"/>
            <a:ext cx="91440" cy="91440"/>
          </a:xfrm>
          <a:prstGeom prst="ellipse">
            <a:avLst/>
          </a:prstGeom>
          <a:solidFill>
            <a:srgbClr val="C9A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20240"/>
            <a:ext cx="106984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600">
                <a:solidFill>
                  <a:srgbClr val="3A4358"/>
                </a:solidFill>
                <a:latin typeface="Apple SD Gothic Neo"/>
              </a:rPr>
              <a:t>회원이 홈페이지에서 관심 있는 </a:t>
            </a:r>
            <a:r>
              <a:rPr sz="1600" b="1">
                <a:solidFill>
                  <a:srgbClr val="8C6F2E"/>
                </a:solidFill>
                <a:latin typeface="Apple SD Gothic Neo"/>
              </a:rPr>
              <a:t>단체와 모임</a:t>
            </a:r>
            <a:r>
              <a:rPr sz="1600">
                <a:solidFill>
                  <a:srgbClr val="3A4358"/>
                </a:solidFill>
                <a:latin typeface="Apple SD Gothic Neo"/>
              </a:rPr>
              <a:t>을 직접 선택할 수 있습니다.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660904"/>
            <a:ext cx="91440" cy="91440"/>
          </a:xfrm>
          <a:prstGeom prst="ellipse">
            <a:avLst/>
          </a:prstGeom>
          <a:solidFill>
            <a:srgbClr val="C9A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514600"/>
            <a:ext cx="106984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600">
                <a:solidFill>
                  <a:srgbClr val="3A4358"/>
                </a:solidFill>
                <a:latin typeface="Apple SD Gothic Neo"/>
              </a:rPr>
              <a:t>선택한 단체·모임의 공지와 일정이 본인에게 닿도록 연결됩니다.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255264"/>
            <a:ext cx="91440" cy="91440"/>
          </a:xfrm>
          <a:prstGeom prst="ellipse">
            <a:avLst/>
          </a:prstGeom>
          <a:solidFill>
            <a:srgbClr val="C9A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108960"/>
            <a:ext cx="106984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600">
                <a:solidFill>
                  <a:srgbClr val="3A4358"/>
                </a:solidFill>
                <a:latin typeface="Apple SD Gothic Neo"/>
              </a:rPr>
              <a:t>알림은 카카오 채널 연동을 통해 받게 됩니다.</a:t>
            </a:r>
          </a:p>
        </p:txBody>
      </p:sp>
      <p:pic>
        <p:nvPicPr>
          <p:cNvPr id="12" name="Picture 11" descr="03-member-inter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754880"/>
            <a:ext cx="10972800" cy="14630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pple SD Gothic Neo"/>
              </a:rPr>
              <a:t>본당 사목과 운영을 돕는 보조 수단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862"/>
                </a:solidFill>
                <a:latin typeface="Apple SD Gothic Neo"/>
              </a:rPr>
              <a:t>승 · 전개  · 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Apple SD Gothic Neo"/>
              </a:rPr>
              <a:t>주보 AI 추출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972800" cy="18288"/>
          </a:xfrm>
          <a:prstGeom prst="rect">
            <a:avLst/>
          </a:prstGeom>
          <a:solidFill>
            <a:srgbClr val="E5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2066544"/>
            <a:ext cx="91440" cy="91440"/>
          </a:xfrm>
          <a:prstGeom prst="ellipse">
            <a:avLst/>
          </a:prstGeom>
          <a:solidFill>
            <a:srgbClr val="C9A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20240"/>
            <a:ext cx="106984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600">
                <a:solidFill>
                  <a:srgbClr val="3A4358"/>
                </a:solidFill>
                <a:latin typeface="Apple SD Gothic Neo"/>
              </a:rPr>
              <a:t>매주 발행되는 </a:t>
            </a:r>
            <a:r>
              <a:rPr sz="1600" b="1">
                <a:solidFill>
                  <a:srgbClr val="8C6F2E"/>
                </a:solidFill>
                <a:latin typeface="Apple SD Gothic Neo"/>
              </a:rPr>
              <a:t>주보 PDF</a:t>
            </a:r>
            <a:r>
              <a:rPr sz="1600">
                <a:solidFill>
                  <a:srgbClr val="3A4358"/>
                </a:solidFill>
                <a:latin typeface="Apple SD Gothic Neo"/>
              </a:rPr>
              <a:t>를 업로드하면, 본문 내용을 AI가 자동으로 살펴봅니다.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660904"/>
            <a:ext cx="91440" cy="91440"/>
          </a:xfrm>
          <a:prstGeom prst="ellipse">
            <a:avLst/>
          </a:prstGeom>
          <a:solidFill>
            <a:srgbClr val="C9A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514600"/>
            <a:ext cx="106984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600">
                <a:solidFill>
                  <a:srgbClr val="3A4358"/>
                </a:solidFill>
                <a:latin typeface="Apple SD Gothic Neo"/>
              </a:rPr>
              <a:t>공지·행사·모임 항목이 자동으로 분류되어 홈페이지의 해당 자리로 이동합니다.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255264"/>
            <a:ext cx="91440" cy="91440"/>
          </a:xfrm>
          <a:prstGeom prst="ellipse">
            <a:avLst/>
          </a:prstGeom>
          <a:solidFill>
            <a:srgbClr val="C9A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108960"/>
            <a:ext cx="106984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600">
                <a:solidFill>
                  <a:srgbClr val="3A4358"/>
                </a:solidFill>
                <a:latin typeface="Apple SD Gothic Neo"/>
              </a:rPr>
              <a:t>분류된 결과는 관리자가 다시 확인한 뒤 공개합니다.</a:t>
            </a:r>
          </a:p>
        </p:txBody>
      </p:sp>
      <p:pic>
        <p:nvPicPr>
          <p:cNvPr id="12" name="Picture 11" descr="04-bulletin-up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754880"/>
            <a:ext cx="10972800" cy="14630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pple SD Gothic Neo"/>
              </a:rPr>
              <a:t>본당 사목과 운영을 돕는 보조 수단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862"/>
                </a:solidFill>
                <a:latin typeface="Apple SD Gothic Neo"/>
              </a:rPr>
              <a:t>승 · 전개  ·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Apple SD Gothic Neo"/>
              </a:rPr>
              <a:t>본당 역사 저장소 역할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972800" cy="18288"/>
          </a:xfrm>
          <a:prstGeom prst="rect">
            <a:avLst/>
          </a:prstGeom>
          <a:solidFill>
            <a:srgbClr val="E5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2066544"/>
            <a:ext cx="91440" cy="91440"/>
          </a:xfrm>
          <a:prstGeom prst="ellipse">
            <a:avLst/>
          </a:prstGeom>
          <a:solidFill>
            <a:srgbClr val="C9A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20240"/>
            <a:ext cx="106984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600">
                <a:solidFill>
                  <a:srgbClr val="3A4358"/>
                </a:solidFill>
                <a:latin typeface="Apple SD Gothic Neo"/>
              </a:rPr>
              <a:t>주보·공지·행사·사진이 홈페이지 안에 </a:t>
            </a:r>
            <a:r>
              <a:rPr sz="1600" b="1">
                <a:solidFill>
                  <a:srgbClr val="8C6F2E"/>
                </a:solidFill>
                <a:latin typeface="Apple SD Gothic Neo"/>
              </a:rPr>
              <a:t>연도별로 누적</a:t>
            </a:r>
            <a:r>
              <a:rPr sz="1600">
                <a:solidFill>
                  <a:srgbClr val="3A4358"/>
                </a:solidFill>
                <a:latin typeface="Apple SD Gothic Neo"/>
              </a:rPr>
              <a:t>됩니다.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660904"/>
            <a:ext cx="91440" cy="91440"/>
          </a:xfrm>
          <a:prstGeom prst="ellipse">
            <a:avLst/>
          </a:prstGeom>
          <a:solidFill>
            <a:srgbClr val="C9A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514600"/>
            <a:ext cx="106984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600">
                <a:solidFill>
                  <a:srgbClr val="3A4358"/>
                </a:solidFill>
                <a:latin typeface="Apple SD Gothic Neo"/>
              </a:rPr>
              <a:t>시간이 지난 뒤에도 그 시기의 본당 활동을 다시 찾아볼 수 있습니다.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255264"/>
            <a:ext cx="91440" cy="91440"/>
          </a:xfrm>
          <a:prstGeom prst="ellipse">
            <a:avLst/>
          </a:prstGeom>
          <a:solidFill>
            <a:srgbClr val="C9A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108960"/>
            <a:ext cx="106984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600">
                <a:solidFill>
                  <a:srgbClr val="3A4358"/>
                </a:solidFill>
                <a:latin typeface="Apple SD Gothic Neo"/>
              </a:rPr>
              <a:t>흩어지기 쉬운 기록을 </a:t>
            </a:r>
            <a:r>
              <a:rPr sz="1600" b="1">
                <a:solidFill>
                  <a:srgbClr val="8C6F2E"/>
                </a:solidFill>
                <a:latin typeface="Apple SD Gothic Neo"/>
              </a:rPr>
              <a:t>한자리에 보관</a:t>
            </a:r>
            <a:r>
              <a:rPr sz="1600">
                <a:solidFill>
                  <a:srgbClr val="3A4358"/>
                </a:solidFill>
                <a:latin typeface="Apple SD Gothic Neo"/>
              </a:rPr>
              <a:t>하는 자리입니다.</a:t>
            </a:r>
          </a:p>
        </p:txBody>
      </p:sp>
      <p:pic>
        <p:nvPicPr>
          <p:cNvPr id="12" name="Picture 11" descr="05-arch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754880"/>
            <a:ext cx="10972800" cy="14630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pple SD Gothic Neo"/>
              </a:rPr>
              <a:t>본당 사목과 운영을 돕는 보조 수단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862"/>
                </a:solidFill>
                <a:latin typeface="Apple SD Gothic Neo"/>
              </a:rPr>
              <a:t>승 · 전개  · 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Apple SD Gothic Neo"/>
              </a:rPr>
              <a:t>보안성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972800" cy="18288"/>
          </a:xfrm>
          <a:prstGeom prst="rect">
            <a:avLst/>
          </a:prstGeom>
          <a:solidFill>
            <a:srgbClr val="E5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2157984"/>
            <a:ext cx="91440" cy="91440"/>
          </a:xfrm>
          <a:prstGeom prst="ellipse">
            <a:avLst/>
          </a:prstGeom>
          <a:solidFill>
            <a:srgbClr val="C9A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011680"/>
            <a:ext cx="1069848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700">
                <a:solidFill>
                  <a:srgbClr val="3A4358"/>
                </a:solidFill>
                <a:latin typeface="Apple SD Gothic Neo"/>
              </a:rPr>
              <a:t>회원 정보는 안전하게 </a:t>
            </a:r>
            <a:r>
              <a:rPr sz="1700" b="1">
                <a:solidFill>
                  <a:srgbClr val="8C6F2E"/>
                </a:solidFill>
                <a:latin typeface="Apple SD Gothic Neo"/>
              </a:rPr>
              <a:t>암호화</a:t>
            </a:r>
            <a:r>
              <a:rPr sz="1700">
                <a:solidFill>
                  <a:srgbClr val="3A4358"/>
                </a:solidFill>
                <a:latin typeface="Apple SD Gothic Neo"/>
              </a:rPr>
              <a:t>되어 저장됩니다.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843784"/>
            <a:ext cx="91440" cy="91440"/>
          </a:xfrm>
          <a:prstGeom prst="ellipse">
            <a:avLst/>
          </a:prstGeom>
          <a:solidFill>
            <a:srgbClr val="C9A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697480"/>
            <a:ext cx="1069848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700">
                <a:solidFill>
                  <a:srgbClr val="3A4358"/>
                </a:solidFill>
                <a:latin typeface="Apple SD Gothic Neo"/>
              </a:rPr>
              <a:t>관리자 페이지는 인증된 사용자만 접근할 수 있습니다.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529584"/>
            <a:ext cx="91440" cy="91440"/>
          </a:xfrm>
          <a:prstGeom prst="ellipse">
            <a:avLst/>
          </a:prstGeom>
          <a:solidFill>
            <a:srgbClr val="C9A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383280"/>
            <a:ext cx="1069848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700">
                <a:solidFill>
                  <a:srgbClr val="3A4358"/>
                </a:solidFill>
                <a:latin typeface="Apple SD Gothic Neo"/>
              </a:rPr>
              <a:t>본당 기록은 정기적으로 </a:t>
            </a:r>
            <a:r>
              <a:rPr sz="1700" b="1">
                <a:solidFill>
                  <a:srgbClr val="8C6F2E"/>
                </a:solidFill>
                <a:latin typeface="Apple SD Gothic Neo"/>
              </a:rPr>
              <a:t>백업</a:t>
            </a:r>
            <a:r>
              <a:rPr sz="1700">
                <a:solidFill>
                  <a:srgbClr val="3A4358"/>
                </a:solidFill>
                <a:latin typeface="Apple SD Gothic Neo"/>
              </a:rPr>
              <a:t>되어 보존됩니다.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72000"/>
            <a:ext cx="1097280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600">
                <a:solidFill>
                  <a:srgbClr val="3A4358"/>
                </a:solidFill>
                <a:latin typeface="Apple SD Gothic Neo"/>
              </a:rPr>
              <a:t>홈페이지에 남겨지는 정보가 안심하고 맡겨질 수 있는 환경을 유지합니다.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pple SD Gothic Neo"/>
              </a:rPr>
              <a:t>본당 사목과 운영을 돕는 보조 수단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862"/>
                </a:solidFill>
                <a:latin typeface="Apple SD Gothic Neo"/>
              </a:rPr>
              <a:t>승 · 전개  ·  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Apple SD Gothic Neo"/>
              </a:rPr>
              <a:t>카카오 채널 연동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972800" cy="18288"/>
          </a:xfrm>
          <a:prstGeom prst="rect">
            <a:avLst/>
          </a:prstGeom>
          <a:solidFill>
            <a:srgbClr val="E5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2066544"/>
            <a:ext cx="91440" cy="91440"/>
          </a:xfrm>
          <a:prstGeom prst="ellipse">
            <a:avLst/>
          </a:prstGeom>
          <a:solidFill>
            <a:srgbClr val="C9A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20240"/>
            <a:ext cx="106984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600">
                <a:solidFill>
                  <a:srgbClr val="3A4358"/>
                </a:solidFill>
                <a:latin typeface="Apple SD Gothic Neo"/>
              </a:rPr>
              <a:t>본당 </a:t>
            </a:r>
            <a:r>
              <a:rPr sz="1600" b="1">
                <a:solidFill>
                  <a:srgbClr val="8C6F2E"/>
                </a:solidFill>
                <a:latin typeface="Apple SD Gothic Neo"/>
              </a:rPr>
              <a:t>카카오 채널</a:t>
            </a:r>
            <a:r>
              <a:rPr sz="1600">
                <a:solidFill>
                  <a:srgbClr val="3A4358"/>
                </a:solidFill>
                <a:latin typeface="Apple SD Gothic Neo"/>
              </a:rPr>
              <a:t>을 통해 알림을 받을 수 있도록 준비하고 있습니다.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660904"/>
            <a:ext cx="91440" cy="91440"/>
          </a:xfrm>
          <a:prstGeom prst="ellipse">
            <a:avLst/>
          </a:prstGeom>
          <a:solidFill>
            <a:srgbClr val="C9A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514600"/>
            <a:ext cx="106984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600">
                <a:solidFill>
                  <a:srgbClr val="3A4358"/>
                </a:solidFill>
                <a:latin typeface="Apple SD Gothic Neo"/>
              </a:rPr>
              <a:t>회원이 관심 단체·모임을 선택해 두면, 해당 공지와 일정이 채널로 안내됩니다.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255264"/>
            <a:ext cx="91440" cy="91440"/>
          </a:xfrm>
          <a:prstGeom prst="ellipse">
            <a:avLst/>
          </a:prstGeom>
          <a:solidFill>
            <a:srgbClr val="C9A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108960"/>
            <a:ext cx="106984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600">
                <a:solidFill>
                  <a:srgbClr val="3A4358"/>
                </a:solidFill>
                <a:latin typeface="Apple SD Gothic Neo"/>
              </a:rPr>
              <a:t>카카오 채널 개설 절차가 마무리되는 대로 적용됩니다.</a:t>
            </a:r>
          </a:p>
        </p:txBody>
      </p:sp>
      <p:pic>
        <p:nvPicPr>
          <p:cNvPr id="12" name="Picture 11" descr="06-kak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754880"/>
            <a:ext cx="10972800" cy="14630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pple SD Gothic Neo"/>
              </a:rPr>
              <a:t>본당 사목과 운영을 돕는 보조 수단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600" b="1">
                <a:solidFill>
                  <a:srgbClr val="1F2A44"/>
                </a:solidFill>
                <a:latin typeface="Apple SD Gothic Neo"/>
              </a:rPr>
              <a:t>두 가지 실제 흐름</a:t>
            </a:r>
          </a:p>
        </p:txBody>
      </p:sp>
      <p:sp>
        <p:nvSpPr>
          <p:cNvPr id="4" name="Rectangle 3"/>
          <p:cNvSpPr/>
          <p:nvPr/>
        </p:nvSpPr>
        <p:spPr>
          <a:xfrm>
            <a:off x="5641848" y="4160520"/>
            <a:ext cx="914400" cy="36576"/>
          </a:xfrm>
          <a:prstGeom prst="rect">
            <a:avLst/>
          </a:prstGeom>
          <a:solidFill>
            <a:srgbClr val="C9A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4805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Apple SD Gothic Neo"/>
              </a:rPr>
              <a:t>홈페이지가 실제로 어떻게 동작하는지 단계별로 살펴봅니다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862"/>
                </a:solidFill>
                <a:latin typeface="Apple SD Gothic Neo"/>
              </a:rPr>
              <a:t>전 · 심화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Apple SD Gothic Neo"/>
              </a:rPr>
              <a:t>흐름 1. 알림 수신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972800" cy="18288"/>
          </a:xfrm>
          <a:prstGeom prst="rect">
            <a:avLst/>
          </a:prstGeom>
          <a:solidFill>
            <a:srgbClr val="E5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728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600">
                <a:solidFill>
                  <a:srgbClr val="3A4358"/>
                </a:solidFill>
                <a:latin typeface="Apple SD Gothic Neo"/>
              </a:rPr>
              <a:t>회원이 홈페이지에 가입한 순간부터 카카오 알림을 받기까지의 네 단계입니다.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108960"/>
            <a:ext cx="2604439" cy="77724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108960"/>
            <a:ext cx="2604439" cy="45720"/>
          </a:xfrm>
          <a:prstGeom prst="rect">
            <a:avLst/>
          </a:prstGeom>
          <a:solidFill>
            <a:srgbClr val="E5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154679"/>
            <a:ext cx="2604439" cy="731519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Apple SD Gothic Neo"/>
              </a:rPr>
              <a:t>① 회원가입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09111" y="3108960"/>
            <a:ext cx="2604439" cy="77724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9111" y="3108960"/>
            <a:ext cx="2604439" cy="45720"/>
          </a:xfrm>
          <a:prstGeom prst="rect">
            <a:avLst/>
          </a:prstGeom>
          <a:solidFill>
            <a:srgbClr val="E5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9111" y="3154679"/>
            <a:ext cx="2604439" cy="731519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Apple SD Gothic Neo"/>
              </a:rPr>
              <a:t>② 첫 로그인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8143" y="3108960"/>
            <a:ext cx="2604439" cy="77724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8143" y="3108960"/>
            <a:ext cx="2604439" cy="45720"/>
          </a:xfrm>
          <a:prstGeom prst="rect">
            <a:avLst/>
          </a:prstGeom>
          <a:solidFill>
            <a:srgbClr val="E5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8143" y="3154679"/>
            <a:ext cx="2604439" cy="731519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Apple SD Gothic Neo"/>
              </a:rPr>
              <a:t>③ 관심 단체·모임 선택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47175" y="3108960"/>
            <a:ext cx="2604439" cy="77724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47175" y="3108960"/>
            <a:ext cx="2604439" cy="45720"/>
          </a:xfrm>
          <a:prstGeom prst="rect">
            <a:avLst/>
          </a:prstGeom>
          <a:solidFill>
            <a:srgbClr val="E5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47175" y="3154679"/>
            <a:ext cx="2604439" cy="731519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Apple SD Gothic Neo"/>
              </a:rPr>
              <a:t>④ 카카오 알림 수신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pple SD Gothic Neo"/>
              </a:rPr>
              <a:t>본당 사목과 운영을 돕는 보조 수단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862"/>
                </a:solidFill>
                <a:latin typeface="Apple SD Gothic Neo"/>
              </a:rPr>
              <a:t>전 · 심화  ·  흐름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77724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7589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Apple SD Gothic Neo"/>
              </a:rPr>
              <a:t>회원가입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10972800" cy="18288"/>
          </a:xfrm>
          <a:prstGeom prst="rect">
            <a:avLst/>
          </a:prstGeom>
          <a:solidFill>
            <a:srgbClr val="E5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2604439" cy="777240"/>
          </a:xfrm>
          <a:prstGeom prst="rect">
            <a:avLst/>
          </a:prstGeom>
          <a:solidFill>
            <a:srgbClr val="FBF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2604439" cy="45720"/>
          </a:xfrm>
          <a:prstGeom prst="rect">
            <a:avLst/>
          </a:prstGeom>
          <a:solidFill>
            <a:srgbClr val="C9A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2604439" cy="731519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Apple SD Gothic Neo"/>
              </a:rPr>
              <a:t>① 회원가입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09111" y="1828800"/>
            <a:ext cx="2604439" cy="77724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9111" y="1828800"/>
            <a:ext cx="2604439" cy="45720"/>
          </a:xfrm>
          <a:prstGeom prst="rect">
            <a:avLst/>
          </a:prstGeom>
          <a:solidFill>
            <a:srgbClr val="E5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9111" y="1874519"/>
            <a:ext cx="2604439" cy="731519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Apple SD Gothic Neo"/>
              </a:rPr>
              <a:t>② 첫 로그인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8143" y="1828800"/>
            <a:ext cx="2604439" cy="77724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8143" y="1828800"/>
            <a:ext cx="2604439" cy="45720"/>
          </a:xfrm>
          <a:prstGeom prst="rect">
            <a:avLst/>
          </a:prstGeom>
          <a:solidFill>
            <a:srgbClr val="E5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8143" y="1874519"/>
            <a:ext cx="2604439" cy="731519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Apple SD Gothic Neo"/>
              </a:rPr>
              <a:t>③ 관심 단체·모임 선택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47175" y="1828800"/>
            <a:ext cx="2604439" cy="77724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47175" y="1828800"/>
            <a:ext cx="2604439" cy="45720"/>
          </a:xfrm>
          <a:prstGeom prst="rect">
            <a:avLst/>
          </a:prstGeom>
          <a:solidFill>
            <a:srgbClr val="E5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47175" y="1874519"/>
            <a:ext cx="2604439" cy="731519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Apple SD Gothic Neo"/>
              </a:rPr>
              <a:t>④ 카카오 알림 수신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255264"/>
            <a:ext cx="91440" cy="91440"/>
          </a:xfrm>
          <a:prstGeom prst="ellipse">
            <a:avLst/>
          </a:prstGeom>
          <a:solidFill>
            <a:srgbClr val="C9A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108960"/>
            <a:ext cx="106984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600">
                <a:solidFill>
                  <a:srgbClr val="3A4358"/>
                </a:solidFill>
                <a:latin typeface="Apple SD Gothic Neo"/>
              </a:rPr>
              <a:t>홈페이지에서 </a:t>
            </a:r>
            <a:r>
              <a:rPr sz="1600" b="1">
                <a:solidFill>
                  <a:srgbClr val="8C6F2E"/>
                </a:solidFill>
                <a:latin typeface="Apple SD Gothic Neo"/>
              </a:rPr>
              <a:t>회원가입</a:t>
            </a:r>
            <a:r>
              <a:rPr sz="1600">
                <a:solidFill>
                  <a:srgbClr val="3A4358"/>
                </a:solidFill>
                <a:latin typeface="Apple SD Gothic Neo"/>
              </a:rPr>
              <a:t>을 진행합니다.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3849624"/>
            <a:ext cx="91440" cy="91440"/>
          </a:xfrm>
          <a:prstGeom prst="ellipse">
            <a:avLst/>
          </a:prstGeom>
          <a:solidFill>
            <a:srgbClr val="C9A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703320"/>
            <a:ext cx="106984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600">
                <a:solidFill>
                  <a:srgbClr val="3A4358"/>
                </a:solidFill>
                <a:latin typeface="Apple SD Gothic Neo"/>
              </a:rPr>
              <a:t>이메일 인증을 거쳐 본인 확인을 마칩니다.</a:t>
            </a:r>
          </a:p>
        </p:txBody>
      </p:sp>
      <p:pic>
        <p:nvPicPr>
          <p:cNvPr id="23" name="Picture 22" descr="flow1-st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572000"/>
            <a:ext cx="10972800" cy="16916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pple SD Gothic Neo"/>
              </a:rPr>
              <a:t>본당 사목과 운영을 돕는 보조 수단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862"/>
                </a:solidFill>
                <a:latin typeface="Apple SD Gothic Neo"/>
              </a:rPr>
              <a:t>전 · 심화  ·  흐름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77724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STEP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7589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Apple SD Gothic Neo"/>
              </a:rPr>
              <a:t>첫 로그인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10972800" cy="18288"/>
          </a:xfrm>
          <a:prstGeom prst="rect">
            <a:avLst/>
          </a:prstGeom>
          <a:solidFill>
            <a:srgbClr val="E5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2604439" cy="77724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2604439" cy="45720"/>
          </a:xfrm>
          <a:prstGeom prst="rect">
            <a:avLst/>
          </a:prstGeom>
          <a:solidFill>
            <a:srgbClr val="E5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2604439" cy="731519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Apple SD Gothic Neo"/>
              </a:rPr>
              <a:t>① 회원가입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09111" y="1828800"/>
            <a:ext cx="2604439" cy="777240"/>
          </a:xfrm>
          <a:prstGeom prst="rect">
            <a:avLst/>
          </a:prstGeom>
          <a:solidFill>
            <a:srgbClr val="FBF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9111" y="1828800"/>
            <a:ext cx="2604439" cy="45720"/>
          </a:xfrm>
          <a:prstGeom prst="rect">
            <a:avLst/>
          </a:prstGeom>
          <a:solidFill>
            <a:srgbClr val="C9A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9111" y="1874519"/>
            <a:ext cx="2604439" cy="731519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Apple SD Gothic Neo"/>
              </a:rPr>
              <a:t>② 첫 로그인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8143" y="1828800"/>
            <a:ext cx="2604439" cy="77724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8143" y="1828800"/>
            <a:ext cx="2604439" cy="45720"/>
          </a:xfrm>
          <a:prstGeom prst="rect">
            <a:avLst/>
          </a:prstGeom>
          <a:solidFill>
            <a:srgbClr val="E5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8143" y="1874519"/>
            <a:ext cx="2604439" cy="731519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Apple SD Gothic Neo"/>
              </a:rPr>
              <a:t>③ 관심 단체·모임 선택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47175" y="1828800"/>
            <a:ext cx="2604439" cy="77724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47175" y="1828800"/>
            <a:ext cx="2604439" cy="45720"/>
          </a:xfrm>
          <a:prstGeom prst="rect">
            <a:avLst/>
          </a:prstGeom>
          <a:solidFill>
            <a:srgbClr val="E5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47175" y="1874519"/>
            <a:ext cx="2604439" cy="731519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Apple SD Gothic Neo"/>
              </a:rPr>
              <a:t>④ 카카오 알림 수신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255264"/>
            <a:ext cx="91440" cy="91440"/>
          </a:xfrm>
          <a:prstGeom prst="ellipse">
            <a:avLst/>
          </a:prstGeom>
          <a:solidFill>
            <a:srgbClr val="C9A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108960"/>
            <a:ext cx="106984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600">
                <a:solidFill>
                  <a:srgbClr val="3A4358"/>
                </a:solidFill>
                <a:latin typeface="Apple SD Gothic Neo"/>
              </a:rPr>
              <a:t>인증을 마친 계정으로 </a:t>
            </a:r>
            <a:r>
              <a:rPr sz="1600" b="1">
                <a:solidFill>
                  <a:srgbClr val="8C6F2E"/>
                </a:solidFill>
                <a:latin typeface="Apple SD Gothic Neo"/>
              </a:rPr>
              <a:t>첫 로그인</a:t>
            </a:r>
            <a:r>
              <a:rPr sz="1600">
                <a:solidFill>
                  <a:srgbClr val="3A4358"/>
                </a:solidFill>
                <a:latin typeface="Apple SD Gothic Neo"/>
              </a:rPr>
              <a:t>을 합니다.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3849624"/>
            <a:ext cx="91440" cy="91440"/>
          </a:xfrm>
          <a:prstGeom prst="ellipse">
            <a:avLst/>
          </a:prstGeom>
          <a:solidFill>
            <a:srgbClr val="C9A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703320"/>
            <a:ext cx="106984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600">
                <a:solidFill>
                  <a:srgbClr val="3A4358"/>
                </a:solidFill>
                <a:latin typeface="Apple SD Gothic Neo"/>
              </a:rPr>
              <a:t>로그인과 함께 관심 단체·모임을 선택할 수 있는 안내가 나타납니다.</a:t>
            </a:r>
          </a:p>
        </p:txBody>
      </p:sp>
      <p:pic>
        <p:nvPicPr>
          <p:cNvPr id="23" name="Picture 22" descr="flow1-ste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572000"/>
            <a:ext cx="10972800" cy="16916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pple SD Gothic Neo"/>
              </a:rPr>
              <a:t>본당 사목과 운영을 돕는 보조 수단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862"/>
                </a:solidFill>
                <a:latin typeface="Apple SD Gothic Neo"/>
              </a:rPr>
              <a:t>전 · 심화  ·  흐름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77724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STEP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7589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Apple SD Gothic Neo"/>
              </a:rPr>
              <a:t>관심 단체·모임 선택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10972800" cy="18288"/>
          </a:xfrm>
          <a:prstGeom prst="rect">
            <a:avLst/>
          </a:prstGeom>
          <a:solidFill>
            <a:srgbClr val="E5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2604439" cy="77724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2604439" cy="45720"/>
          </a:xfrm>
          <a:prstGeom prst="rect">
            <a:avLst/>
          </a:prstGeom>
          <a:solidFill>
            <a:srgbClr val="E5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2604439" cy="731519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Apple SD Gothic Neo"/>
              </a:rPr>
              <a:t>① 회원가입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09111" y="1828800"/>
            <a:ext cx="2604439" cy="77724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9111" y="1828800"/>
            <a:ext cx="2604439" cy="45720"/>
          </a:xfrm>
          <a:prstGeom prst="rect">
            <a:avLst/>
          </a:prstGeom>
          <a:solidFill>
            <a:srgbClr val="E5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9111" y="1874519"/>
            <a:ext cx="2604439" cy="731519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Apple SD Gothic Neo"/>
              </a:rPr>
              <a:t>② 첫 로그인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8143" y="1828800"/>
            <a:ext cx="2604439" cy="777240"/>
          </a:xfrm>
          <a:prstGeom prst="rect">
            <a:avLst/>
          </a:prstGeom>
          <a:solidFill>
            <a:srgbClr val="FBF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8143" y="1828800"/>
            <a:ext cx="2604439" cy="45720"/>
          </a:xfrm>
          <a:prstGeom prst="rect">
            <a:avLst/>
          </a:prstGeom>
          <a:solidFill>
            <a:srgbClr val="C9A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8143" y="1874519"/>
            <a:ext cx="2604439" cy="731519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Apple SD Gothic Neo"/>
              </a:rPr>
              <a:t>③ 관심 단체·모임 선택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47175" y="1828800"/>
            <a:ext cx="2604439" cy="77724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47175" y="1828800"/>
            <a:ext cx="2604439" cy="45720"/>
          </a:xfrm>
          <a:prstGeom prst="rect">
            <a:avLst/>
          </a:prstGeom>
          <a:solidFill>
            <a:srgbClr val="E5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47175" y="1874519"/>
            <a:ext cx="2604439" cy="731519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Apple SD Gothic Neo"/>
              </a:rPr>
              <a:t>④ 카카오 알림 수신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255264"/>
            <a:ext cx="91440" cy="91440"/>
          </a:xfrm>
          <a:prstGeom prst="ellipse">
            <a:avLst/>
          </a:prstGeom>
          <a:solidFill>
            <a:srgbClr val="C9A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108960"/>
            <a:ext cx="106984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600">
                <a:solidFill>
                  <a:srgbClr val="3A4358"/>
                </a:solidFill>
                <a:latin typeface="Apple SD Gothic Neo"/>
              </a:rPr>
              <a:t>본당의 </a:t>
            </a:r>
            <a:r>
              <a:rPr sz="1600" b="1">
                <a:solidFill>
                  <a:srgbClr val="8C6F2E"/>
                </a:solidFill>
                <a:latin typeface="Apple SD Gothic Neo"/>
              </a:rPr>
              <a:t>단체와 모임 목록</a:t>
            </a:r>
            <a:r>
              <a:rPr sz="1600">
                <a:solidFill>
                  <a:srgbClr val="3A4358"/>
                </a:solidFill>
                <a:latin typeface="Apple SD Gothic Neo"/>
              </a:rPr>
              <a:t>에서 관심 있는 것을 선택합니다.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3849624"/>
            <a:ext cx="91440" cy="91440"/>
          </a:xfrm>
          <a:prstGeom prst="ellipse">
            <a:avLst/>
          </a:prstGeom>
          <a:solidFill>
            <a:srgbClr val="C9A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703320"/>
            <a:ext cx="106984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600">
                <a:solidFill>
                  <a:srgbClr val="3A4358"/>
                </a:solidFill>
                <a:latin typeface="Apple SD Gothic Neo"/>
              </a:rPr>
              <a:t>선택한 단체가 속한 </a:t>
            </a:r>
            <a:r>
              <a:rPr sz="1600" b="1">
                <a:solidFill>
                  <a:srgbClr val="8C6F2E"/>
                </a:solidFill>
                <a:latin typeface="Apple SD Gothic Neo"/>
              </a:rPr>
              <a:t>분과는 자동으로 함께 포함</a:t>
            </a:r>
            <a:r>
              <a:rPr sz="1600">
                <a:solidFill>
                  <a:srgbClr val="3A4358"/>
                </a:solidFill>
                <a:latin typeface="Apple SD Gothic Neo"/>
              </a:rPr>
              <a:t>됩니다.</a:t>
            </a:r>
          </a:p>
        </p:txBody>
      </p:sp>
      <p:pic>
        <p:nvPicPr>
          <p:cNvPr id="23" name="Picture 22" descr="flow1-ste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572000"/>
            <a:ext cx="10972800" cy="16916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pple SD Gothic Neo"/>
              </a:rPr>
              <a:t>본당 사목과 운영을 돕는 보조 수단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862"/>
                </a:solidFill>
                <a:latin typeface="Apple SD Gothic Neo"/>
              </a:rPr>
              <a:t>전 · 심화  ·  흐름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77724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STEP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7589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Apple SD Gothic Neo"/>
              </a:rPr>
              <a:t>카카오 알림 수신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10972800" cy="18288"/>
          </a:xfrm>
          <a:prstGeom prst="rect">
            <a:avLst/>
          </a:prstGeom>
          <a:solidFill>
            <a:srgbClr val="E5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2604439" cy="77724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2604439" cy="45720"/>
          </a:xfrm>
          <a:prstGeom prst="rect">
            <a:avLst/>
          </a:prstGeom>
          <a:solidFill>
            <a:srgbClr val="E5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2604439" cy="731519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Apple SD Gothic Neo"/>
              </a:rPr>
              <a:t>① 회원가입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09111" y="1828800"/>
            <a:ext cx="2604439" cy="77724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9111" y="1828800"/>
            <a:ext cx="2604439" cy="45720"/>
          </a:xfrm>
          <a:prstGeom prst="rect">
            <a:avLst/>
          </a:prstGeom>
          <a:solidFill>
            <a:srgbClr val="E5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9111" y="1874519"/>
            <a:ext cx="2604439" cy="731519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Apple SD Gothic Neo"/>
              </a:rPr>
              <a:t>② 첫 로그인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8143" y="1828800"/>
            <a:ext cx="2604439" cy="77724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8143" y="1828800"/>
            <a:ext cx="2604439" cy="45720"/>
          </a:xfrm>
          <a:prstGeom prst="rect">
            <a:avLst/>
          </a:prstGeom>
          <a:solidFill>
            <a:srgbClr val="E5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8143" y="1874519"/>
            <a:ext cx="2604439" cy="731519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Apple SD Gothic Neo"/>
              </a:rPr>
              <a:t>③ 관심 단체·모임 선택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47175" y="1828800"/>
            <a:ext cx="2604439" cy="777240"/>
          </a:xfrm>
          <a:prstGeom prst="rect">
            <a:avLst/>
          </a:prstGeom>
          <a:solidFill>
            <a:srgbClr val="FBF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47175" y="1828800"/>
            <a:ext cx="2604439" cy="45720"/>
          </a:xfrm>
          <a:prstGeom prst="rect">
            <a:avLst/>
          </a:prstGeom>
          <a:solidFill>
            <a:srgbClr val="C9A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47175" y="1874519"/>
            <a:ext cx="2604439" cy="731519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Apple SD Gothic Neo"/>
              </a:rPr>
              <a:t>④ 카카오 알림 수신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255264"/>
            <a:ext cx="91440" cy="91440"/>
          </a:xfrm>
          <a:prstGeom prst="ellipse">
            <a:avLst/>
          </a:prstGeom>
          <a:solidFill>
            <a:srgbClr val="C9A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108960"/>
            <a:ext cx="106984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600">
                <a:solidFill>
                  <a:srgbClr val="3A4358"/>
                </a:solidFill>
                <a:latin typeface="Apple SD Gothic Neo"/>
              </a:rPr>
              <a:t>선택한 단체·모임의 공지와 일정이 등록되면, 본당 </a:t>
            </a:r>
            <a:r>
              <a:rPr sz="1600" b="1">
                <a:solidFill>
                  <a:srgbClr val="8C6F2E"/>
                </a:solidFill>
                <a:latin typeface="Apple SD Gothic Neo"/>
              </a:rPr>
              <a:t>카카오 채널</a:t>
            </a:r>
            <a:r>
              <a:rPr sz="1600">
                <a:solidFill>
                  <a:srgbClr val="3A4358"/>
                </a:solidFill>
                <a:latin typeface="Apple SD Gothic Neo"/>
              </a:rPr>
              <a:t>을 통해 알림이 전달됩니다.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3849624"/>
            <a:ext cx="91440" cy="91440"/>
          </a:xfrm>
          <a:prstGeom prst="ellipse">
            <a:avLst/>
          </a:prstGeom>
          <a:solidFill>
            <a:srgbClr val="C9A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703320"/>
            <a:ext cx="106984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600">
                <a:solidFill>
                  <a:srgbClr val="3A4358"/>
                </a:solidFill>
                <a:latin typeface="Apple SD Gothic Neo"/>
              </a:rPr>
              <a:t>글로벌 알림 토글로 받기/받지 않기를 직접 조절할 수 있습니다.</a:t>
            </a:r>
          </a:p>
        </p:txBody>
      </p:sp>
      <p:pic>
        <p:nvPicPr>
          <p:cNvPr id="23" name="Picture 22" descr="flow1-ste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572000"/>
            <a:ext cx="10972800" cy="16916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pple SD Gothic Neo"/>
              </a:rPr>
              <a:t>본당 사목과 운영을 돕는 보조 수단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862"/>
                </a:solidFill>
                <a:latin typeface="Apple SD Gothic Neo"/>
              </a:rPr>
              <a:t>전 · 심화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Apple SD Gothic Neo"/>
              </a:rPr>
              <a:t>흐름 2. 주보 AI 추출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972800" cy="18288"/>
          </a:xfrm>
          <a:prstGeom prst="rect">
            <a:avLst/>
          </a:prstGeom>
          <a:solidFill>
            <a:srgbClr val="E5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728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600">
                <a:solidFill>
                  <a:srgbClr val="3A4358"/>
                </a:solidFill>
                <a:latin typeface="Apple SD Gothic Neo"/>
              </a:rPr>
              <a:t>업로드한 주보 한 부가 홈페이지의 여러 자리로 정리되어 들어가는 네 단계입니다.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108960"/>
            <a:ext cx="2604439" cy="77724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108960"/>
            <a:ext cx="2604439" cy="45720"/>
          </a:xfrm>
          <a:prstGeom prst="rect">
            <a:avLst/>
          </a:prstGeom>
          <a:solidFill>
            <a:srgbClr val="E5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154679"/>
            <a:ext cx="2604439" cy="731519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Apple SD Gothic Neo"/>
              </a:rPr>
              <a:t>① 주보 PDF 입력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09111" y="3108960"/>
            <a:ext cx="2604439" cy="77724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9111" y="3108960"/>
            <a:ext cx="2604439" cy="45720"/>
          </a:xfrm>
          <a:prstGeom prst="rect">
            <a:avLst/>
          </a:prstGeom>
          <a:solidFill>
            <a:srgbClr val="E5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9111" y="3154679"/>
            <a:ext cx="2604439" cy="731519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Apple SD Gothic Neo"/>
              </a:rPr>
              <a:t>② AI 분석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8143" y="3108960"/>
            <a:ext cx="2604439" cy="77724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8143" y="3108960"/>
            <a:ext cx="2604439" cy="45720"/>
          </a:xfrm>
          <a:prstGeom prst="rect">
            <a:avLst/>
          </a:prstGeom>
          <a:solidFill>
            <a:srgbClr val="E5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8143" y="3154679"/>
            <a:ext cx="2604439" cy="731519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Apple SD Gothic Neo"/>
              </a:rPr>
              <a:t>③ 자동 분류·이동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47175" y="3108960"/>
            <a:ext cx="2604439" cy="77724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47175" y="3108960"/>
            <a:ext cx="2604439" cy="45720"/>
          </a:xfrm>
          <a:prstGeom prst="rect">
            <a:avLst/>
          </a:prstGeom>
          <a:solidFill>
            <a:srgbClr val="E5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47175" y="3154679"/>
            <a:ext cx="2604439" cy="731519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Apple SD Gothic Neo"/>
              </a:rPr>
              <a:t>④ 관리자 검수·공개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pple SD Gothic Neo"/>
              </a:rPr>
              <a:t>본당 사목과 운영을 돕는 보조 수단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862"/>
                </a:solidFill>
                <a:latin typeface="Apple SD Gothic Neo"/>
              </a:rPr>
              <a:t>전 · 심화  ·  흐름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77724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7589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Apple SD Gothic Neo"/>
              </a:rPr>
              <a:t>주보 PDF 입력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10972800" cy="18288"/>
          </a:xfrm>
          <a:prstGeom prst="rect">
            <a:avLst/>
          </a:prstGeom>
          <a:solidFill>
            <a:srgbClr val="E5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2604439" cy="777240"/>
          </a:xfrm>
          <a:prstGeom prst="rect">
            <a:avLst/>
          </a:prstGeom>
          <a:solidFill>
            <a:srgbClr val="FBF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2604439" cy="45720"/>
          </a:xfrm>
          <a:prstGeom prst="rect">
            <a:avLst/>
          </a:prstGeom>
          <a:solidFill>
            <a:srgbClr val="C9A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2604439" cy="731519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Apple SD Gothic Neo"/>
              </a:rPr>
              <a:t>① 주보 PDF 입력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09111" y="1828800"/>
            <a:ext cx="2604439" cy="77724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9111" y="1828800"/>
            <a:ext cx="2604439" cy="45720"/>
          </a:xfrm>
          <a:prstGeom prst="rect">
            <a:avLst/>
          </a:prstGeom>
          <a:solidFill>
            <a:srgbClr val="E5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9111" y="1874519"/>
            <a:ext cx="2604439" cy="731519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Apple SD Gothic Neo"/>
              </a:rPr>
              <a:t>② AI 분석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8143" y="1828800"/>
            <a:ext cx="2604439" cy="77724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8143" y="1828800"/>
            <a:ext cx="2604439" cy="45720"/>
          </a:xfrm>
          <a:prstGeom prst="rect">
            <a:avLst/>
          </a:prstGeom>
          <a:solidFill>
            <a:srgbClr val="E5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8143" y="1874519"/>
            <a:ext cx="2604439" cy="731519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Apple SD Gothic Neo"/>
              </a:rPr>
              <a:t>③ 자동 분류·이동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47175" y="1828800"/>
            <a:ext cx="2604439" cy="77724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47175" y="1828800"/>
            <a:ext cx="2604439" cy="45720"/>
          </a:xfrm>
          <a:prstGeom prst="rect">
            <a:avLst/>
          </a:prstGeom>
          <a:solidFill>
            <a:srgbClr val="E5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47175" y="1874519"/>
            <a:ext cx="2604439" cy="731519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Apple SD Gothic Neo"/>
              </a:rPr>
              <a:t>④ 관리자 검수·공개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255264"/>
            <a:ext cx="91440" cy="91440"/>
          </a:xfrm>
          <a:prstGeom prst="ellipse">
            <a:avLst/>
          </a:prstGeom>
          <a:solidFill>
            <a:srgbClr val="C9A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108960"/>
            <a:ext cx="106984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600">
                <a:solidFill>
                  <a:srgbClr val="3A4358"/>
                </a:solidFill>
                <a:latin typeface="Apple SD Gothic Neo"/>
              </a:rPr>
              <a:t>매주 발행되는 </a:t>
            </a:r>
            <a:r>
              <a:rPr sz="1600" b="1">
                <a:solidFill>
                  <a:srgbClr val="8C6F2E"/>
                </a:solidFill>
                <a:latin typeface="Apple SD Gothic Neo"/>
              </a:rPr>
              <a:t>주보 PDF</a:t>
            </a:r>
            <a:r>
              <a:rPr sz="1600">
                <a:solidFill>
                  <a:srgbClr val="3A4358"/>
                </a:solidFill>
                <a:latin typeface="Apple SD Gothic Neo"/>
              </a:rPr>
              <a:t>를 관리자 페이지에 업로드합니다.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3849624"/>
            <a:ext cx="91440" cy="91440"/>
          </a:xfrm>
          <a:prstGeom prst="ellipse">
            <a:avLst/>
          </a:prstGeom>
          <a:solidFill>
            <a:srgbClr val="C9A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703320"/>
            <a:ext cx="106984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600">
                <a:solidFill>
                  <a:srgbClr val="3A4358"/>
                </a:solidFill>
                <a:latin typeface="Apple SD Gothic Neo"/>
              </a:rPr>
              <a:t>PDF 원본은 그대로 보관되어 언제든 다시 열어볼 수 있습니다.</a:t>
            </a:r>
          </a:p>
        </p:txBody>
      </p:sp>
      <p:pic>
        <p:nvPicPr>
          <p:cNvPr id="23" name="Picture 22" descr="flow2-st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572000"/>
            <a:ext cx="10972800" cy="16916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pple SD Gothic Neo"/>
              </a:rPr>
              <a:t>본당 사목과 운영을 돕는 보조 수단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862"/>
                </a:solidFill>
                <a:latin typeface="Apple SD Gothic Neo"/>
              </a:rPr>
              <a:t>전 · 심화  ·  흐름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77724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STEP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7589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Apple SD Gothic Neo"/>
              </a:rPr>
              <a:t>AI 분석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10972800" cy="18288"/>
          </a:xfrm>
          <a:prstGeom prst="rect">
            <a:avLst/>
          </a:prstGeom>
          <a:solidFill>
            <a:srgbClr val="E5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2604439" cy="77724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2604439" cy="45720"/>
          </a:xfrm>
          <a:prstGeom prst="rect">
            <a:avLst/>
          </a:prstGeom>
          <a:solidFill>
            <a:srgbClr val="E5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2604439" cy="731519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Apple SD Gothic Neo"/>
              </a:rPr>
              <a:t>① 주보 PDF 입력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09111" y="1828800"/>
            <a:ext cx="2604439" cy="777240"/>
          </a:xfrm>
          <a:prstGeom prst="rect">
            <a:avLst/>
          </a:prstGeom>
          <a:solidFill>
            <a:srgbClr val="FBF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9111" y="1828800"/>
            <a:ext cx="2604439" cy="45720"/>
          </a:xfrm>
          <a:prstGeom prst="rect">
            <a:avLst/>
          </a:prstGeom>
          <a:solidFill>
            <a:srgbClr val="C9A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9111" y="1874519"/>
            <a:ext cx="2604439" cy="731519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Apple SD Gothic Neo"/>
              </a:rPr>
              <a:t>② AI 분석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8143" y="1828800"/>
            <a:ext cx="2604439" cy="77724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8143" y="1828800"/>
            <a:ext cx="2604439" cy="45720"/>
          </a:xfrm>
          <a:prstGeom prst="rect">
            <a:avLst/>
          </a:prstGeom>
          <a:solidFill>
            <a:srgbClr val="E5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8143" y="1874519"/>
            <a:ext cx="2604439" cy="731519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Apple SD Gothic Neo"/>
              </a:rPr>
              <a:t>③ 자동 분류·이동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47175" y="1828800"/>
            <a:ext cx="2604439" cy="77724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47175" y="1828800"/>
            <a:ext cx="2604439" cy="45720"/>
          </a:xfrm>
          <a:prstGeom prst="rect">
            <a:avLst/>
          </a:prstGeom>
          <a:solidFill>
            <a:srgbClr val="E5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47175" y="1874519"/>
            <a:ext cx="2604439" cy="731519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Apple SD Gothic Neo"/>
              </a:rPr>
              <a:t>④ 관리자 검수·공개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255264"/>
            <a:ext cx="91440" cy="91440"/>
          </a:xfrm>
          <a:prstGeom prst="ellipse">
            <a:avLst/>
          </a:prstGeom>
          <a:solidFill>
            <a:srgbClr val="C9A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108960"/>
            <a:ext cx="106984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600">
                <a:solidFill>
                  <a:srgbClr val="3A4358"/>
                </a:solidFill>
                <a:latin typeface="Apple SD Gothic Neo"/>
              </a:rPr>
              <a:t>업로드된 주보를 </a:t>
            </a:r>
            <a:r>
              <a:rPr sz="1600" b="1">
                <a:solidFill>
                  <a:srgbClr val="8C6F2E"/>
                </a:solidFill>
                <a:latin typeface="Apple SD Gothic Neo"/>
              </a:rPr>
              <a:t>AI가 한 장씩 읽어</a:t>
            </a:r>
            <a:r>
              <a:rPr sz="1600">
                <a:solidFill>
                  <a:srgbClr val="3A4358"/>
                </a:solidFill>
                <a:latin typeface="Apple SD Gothic Neo"/>
              </a:rPr>
              <a:t> 본문과 표 내용을 정리합니다.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3849624"/>
            <a:ext cx="91440" cy="91440"/>
          </a:xfrm>
          <a:prstGeom prst="ellipse">
            <a:avLst/>
          </a:prstGeom>
          <a:solidFill>
            <a:srgbClr val="C9A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703320"/>
            <a:ext cx="106984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600">
                <a:solidFill>
                  <a:srgbClr val="3A4358"/>
                </a:solidFill>
                <a:latin typeface="Apple SD Gothic Neo"/>
              </a:rPr>
              <a:t>텍스트와 이미지 정보 모두 분석 대상이 됩니다.</a:t>
            </a:r>
          </a:p>
        </p:txBody>
      </p:sp>
      <p:pic>
        <p:nvPicPr>
          <p:cNvPr id="23" name="Picture 22" descr="flow2-ste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572000"/>
            <a:ext cx="10972800" cy="16916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pple SD Gothic Neo"/>
              </a:rPr>
              <a:t>본당 사목과 운영을 돕는 보조 수단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862"/>
                </a:solidFill>
                <a:latin typeface="Apple SD Gothic Neo"/>
              </a:rPr>
              <a:t>전 · 심화  ·  흐름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77724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STEP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7589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Apple SD Gothic Neo"/>
              </a:rPr>
              <a:t>자동 분류·이동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10972800" cy="18288"/>
          </a:xfrm>
          <a:prstGeom prst="rect">
            <a:avLst/>
          </a:prstGeom>
          <a:solidFill>
            <a:srgbClr val="E5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2604439" cy="77724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2604439" cy="45720"/>
          </a:xfrm>
          <a:prstGeom prst="rect">
            <a:avLst/>
          </a:prstGeom>
          <a:solidFill>
            <a:srgbClr val="E5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2604439" cy="731519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Apple SD Gothic Neo"/>
              </a:rPr>
              <a:t>① 주보 PDF 입력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09111" y="1828800"/>
            <a:ext cx="2604439" cy="77724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9111" y="1828800"/>
            <a:ext cx="2604439" cy="45720"/>
          </a:xfrm>
          <a:prstGeom prst="rect">
            <a:avLst/>
          </a:prstGeom>
          <a:solidFill>
            <a:srgbClr val="E5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9111" y="1874519"/>
            <a:ext cx="2604439" cy="731519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Apple SD Gothic Neo"/>
              </a:rPr>
              <a:t>② AI 분석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8143" y="1828800"/>
            <a:ext cx="2604439" cy="777240"/>
          </a:xfrm>
          <a:prstGeom prst="rect">
            <a:avLst/>
          </a:prstGeom>
          <a:solidFill>
            <a:srgbClr val="FBF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8143" y="1828800"/>
            <a:ext cx="2604439" cy="45720"/>
          </a:xfrm>
          <a:prstGeom prst="rect">
            <a:avLst/>
          </a:prstGeom>
          <a:solidFill>
            <a:srgbClr val="C9A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8143" y="1874519"/>
            <a:ext cx="2604439" cy="731519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Apple SD Gothic Neo"/>
              </a:rPr>
              <a:t>③ 자동 분류·이동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47175" y="1828800"/>
            <a:ext cx="2604439" cy="77724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47175" y="1828800"/>
            <a:ext cx="2604439" cy="45720"/>
          </a:xfrm>
          <a:prstGeom prst="rect">
            <a:avLst/>
          </a:prstGeom>
          <a:solidFill>
            <a:srgbClr val="E5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47175" y="1874519"/>
            <a:ext cx="2604439" cy="731519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Apple SD Gothic Neo"/>
              </a:rPr>
              <a:t>④ 관리자 검수·공개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255264"/>
            <a:ext cx="91440" cy="91440"/>
          </a:xfrm>
          <a:prstGeom prst="ellipse">
            <a:avLst/>
          </a:prstGeom>
          <a:solidFill>
            <a:srgbClr val="C9A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108960"/>
            <a:ext cx="106984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600">
                <a:solidFill>
                  <a:srgbClr val="3A4358"/>
                </a:solidFill>
                <a:latin typeface="Apple SD Gothic Neo"/>
              </a:rPr>
              <a:t>분석 결과는 </a:t>
            </a:r>
            <a:r>
              <a:rPr sz="1600" b="1">
                <a:solidFill>
                  <a:srgbClr val="8C6F2E"/>
                </a:solidFill>
                <a:latin typeface="Apple SD Gothic Neo"/>
              </a:rPr>
              <a:t>공지 / 행사 / 모임</a:t>
            </a:r>
            <a:r>
              <a:rPr sz="1600">
                <a:solidFill>
                  <a:srgbClr val="3A4358"/>
                </a:solidFill>
                <a:latin typeface="Apple SD Gothic Neo"/>
              </a:rPr>
              <a:t> 세 갈래로 자동 분류됩니다.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3849624"/>
            <a:ext cx="91440" cy="91440"/>
          </a:xfrm>
          <a:prstGeom prst="ellipse">
            <a:avLst/>
          </a:prstGeom>
          <a:solidFill>
            <a:srgbClr val="C9A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703320"/>
            <a:ext cx="106984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600">
                <a:solidFill>
                  <a:srgbClr val="3A4358"/>
                </a:solidFill>
                <a:latin typeface="Apple SD Gothic Neo"/>
              </a:rPr>
              <a:t>각 항목은 홈페이지 안의 알맞은 자리로 이동합니다.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4443984"/>
            <a:ext cx="91440" cy="91440"/>
          </a:xfrm>
          <a:prstGeom prst="ellipse">
            <a:avLst/>
          </a:prstGeom>
          <a:solidFill>
            <a:srgbClr val="C9A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297680"/>
            <a:ext cx="106984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600">
                <a:solidFill>
                  <a:srgbClr val="3A4358"/>
                </a:solidFill>
                <a:latin typeface="Apple SD Gothic Neo"/>
              </a:rPr>
              <a:t>날짜 정보가 부족한 항목은 별도 </a:t>
            </a:r>
            <a:r>
              <a:rPr sz="1600" b="1">
                <a:solidFill>
                  <a:srgbClr val="8C6F2E"/>
                </a:solidFill>
                <a:latin typeface="Apple SD Gothic Neo"/>
              </a:rPr>
              <a:t>임시 보관함</a:t>
            </a:r>
            <a:r>
              <a:rPr sz="1600">
                <a:solidFill>
                  <a:srgbClr val="3A4358"/>
                </a:solidFill>
                <a:latin typeface="Apple SD Gothic Neo"/>
              </a:rPr>
              <a:t>으로 분리됩니다.</a:t>
            </a:r>
          </a:p>
        </p:txBody>
      </p:sp>
      <p:pic>
        <p:nvPicPr>
          <p:cNvPr id="25" name="Picture 24" descr="flow2-ste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572000"/>
            <a:ext cx="10972800" cy="16916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pple SD Gothic Neo"/>
              </a:rPr>
              <a:t>본당 사목과 운영을 돕는 보조 수단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862"/>
                </a:solidFill>
                <a:latin typeface="Apple SD Gothic Neo"/>
              </a:rPr>
              <a:t>전 · 심화  ·  흐름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77724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STEP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7589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Apple SD Gothic Neo"/>
              </a:rPr>
              <a:t>관리자 검수·공개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10972800" cy="18288"/>
          </a:xfrm>
          <a:prstGeom prst="rect">
            <a:avLst/>
          </a:prstGeom>
          <a:solidFill>
            <a:srgbClr val="E5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2604439" cy="77724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2604439" cy="45720"/>
          </a:xfrm>
          <a:prstGeom prst="rect">
            <a:avLst/>
          </a:prstGeom>
          <a:solidFill>
            <a:srgbClr val="E5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2604439" cy="731519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Apple SD Gothic Neo"/>
              </a:rPr>
              <a:t>① 주보 PDF 입력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09111" y="1828800"/>
            <a:ext cx="2604439" cy="77724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9111" y="1828800"/>
            <a:ext cx="2604439" cy="45720"/>
          </a:xfrm>
          <a:prstGeom prst="rect">
            <a:avLst/>
          </a:prstGeom>
          <a:solidFill>
            <a:srgbClr val="E5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9111" y="1874519"/>
            <a:ext cx="2604439" cy="731519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Apple SD Gothic Neo"/>
              </a:rPr>
              <a:t>② AI 분석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8143" y="1828800"/>
            <a:ext cx="2604439" cy="77724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8143" y="1828800"/>
            <a:ext cx="2604439" cy="45720"/>
          </a:xfrm>
          <a:prstGeom prst="rect">
            <a:avLst/>
          </a:prstGeom>
          <a:solidFill>
            <a:srgbClr val="E5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8143" y="1874519"/>
            <a:ext cx="2604439" cy="731519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Apple SD Gothic Neo"/>
              </a:rPr>
              <a:t>③ 자동 분류·이동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47175" y="1828800"/>
            <a:ext cx="2604439" cy="777240"/>
          </a:xfrm>
          <a:prstGeom prst="rect">
            <a:avLst/>
          </a:prstGeom>
          <a:solidFill>
            <a:srgbClr val="FBF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47175" y="1828800"/>
            <a:ext cx="2604439" cy="45720"/>
          </a:xfrm>
          <a:prstGeom prst="rect">
            <a:avLst/>
          </a:prstGeom>
          <a:solidFill>
            <a:srgbClr val="C9A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47175" y="1874519"/>
            <a:ext cx="2604439" cy="731519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Apple SD Gothic Neo"/>
              </a:rPr>
              <a:t>④ 관리자 검수·공개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255264"/>
            <a:ext cx="91440" cy="91440"/>
          </a:xfrm>
          <a:prstGeom prst="ellipse">
            <a:avLst/>
          </a:prstGeom>
          <a:solidFill>
            <a:srgbClr val="C9A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108960"/>
            <a:ext cx="106984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600">
                <a:solidFill>
                  <a:srgbClr val="3A4358"/>
                </a:solidFill>
                <a:latin typeface="Apple SD Gothic Neo"/>
              </a:rPr>
              <a:t>자동 등록된 항목들은 </a:t>
            </a:r>
            <a:r>
              <a:rPr sz="1600" b="1">
                <a:solidFill>
                  <a:srgbClr val="8C6F2E"/>
                </a:solidFill>
                <a:latin typeface="Apple SD Gothic Neo"/>
              </a:rPr>
              <a:t>관리자 화면</a:t>
            </a:r>
            <a:r>
              <a:rPr sz="1600">
                <a:solidFill>
                  <a:srgbClr val="3A4358"/>
                </a:solidFill>
                <a:latin typeface="Apple SD Gothic Neo"/>
              </a:rPr>
              <a:t>에서 한 번 더 확인합니다.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3849624"/>
            <a:ext cx="91440" cy="91440"/>
          </a:xfrm>
          <a:prstGeom prst="ellipse">
            <a:avLst/>
          </a:prstGeom>
          <a:solidFill>
            <a:srgbClr val="C9A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703320"/>
            <a:ext cx="106984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600">
                <a:solidFill>
                  <a:srgbClr val="3A4358"/>
                </a:solidFill>
                <a:latin typeface="Apple SD Gothic Neo"/>
              </a:rPr>
              <a:t>내용이 맞으면 그대로 공개하고, 수정이 필요하면 손을 본 뒤 공개합니다.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4443984"/>
            <a:ext cx="91440" cy="91440"/>
          </a:xfrm>
          <a:prstGeom prst="ellipse">
            <a:avLst/>
          </a:prstGeom>
          <a:solidFill>
            <a:srgbClr val="C9A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297680"/>
            <a:ext cx="106984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600">
                <a:solidFill>
                  <a:srgbClr val="3A4358"/>
                </a:solidFill>
                <a:latin typeface="Apple SD Gothic Neo"/>
              </a:rPr>
              <a:t>AI가 만든 항목임을 표시하는 </a:t>
            </a:r>
            <a:r>
              <a:rPr sz="1600" b="1">
                <a:solidFill>
                  <a:srgbClr val="8C6F2E"/>
                </a:solidFill>
                <a:latin typeface="Apple SD Gothic Neo"/>
              </a:rPr>
              <a:t>별도 표지</a:t>
            </a:r>
            <a:r>
              <a:rPr sz="1600">
                <a:solidFill>
                  <a:srgbClr val="3A4358"/>
                </a:solidFill>
                <a:latin typeface="Apple SD Gothic Neo"/>
              </a:rPr>
              <a:t>가 함께 붙습니다.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572000"/>
            <a:ext cx="10972800" cy="1691640"/>
          </a:xfrm>
          <a:prstGeom prst="rect">
            <a:avLst/>
          </a:prstGeom>
          <a:solidFill>
            <a:srgbClr val="FDFBF4"/>
          </a:solidFill>
          <a:ln w="15875">
            <a:solidFill>
              <a:srgbClr val="C9A862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8C6F2E"/>
                </a:solidFill>
                <a:latin typeface="Apple SD Gothic Neo"/>
              </a:rPr>
              <a:t>📷 화면 예시</a:t>
            </a:r>
          </a:p>
          <a:p>
            <a:pPr algn="ctr"/>
            <a:r>
              <a:rPr sz="1100">
                <a:solidFill>
                  <a:srgbClr val="6B7280"/>
                </a:solidFill>
                <a:latin typeface="Menlo"/>
              </a:rPr>
              <a:t>screenshots/flow2-step4.png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pple SD Gothic Neo"/>
              </a:rPr>
              <a:t>본당 사목과 운영을 돕는 보조 수단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600" b="1">
                <a:solidFill>
                  <a:srgbClr val="1F2A44"/>
                </a:solidFill>
                <a:latin typeface="Apple SD Gothic Neo"/>
              </a:rPr>
              <a:t>본당의 시간을 보관하는 자리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641848" y="4160520"/>
            <a:ext cx="914400" cy="36576"/>
          </a:xfrm>
          <a:prstGeom prst="rect">
            <a:avLst/>
          </a:prstGeom>
          <a:solidFill>
            <a:srgbClr val="C9A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4805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Apple SD Gothic Neo"/>
              </a:rPr>
              <a:t>홈페이지는 본당 사목과 운영을 거드는 한 자리입니다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862"/>
                </a:solidFill>
                <a:latin typeface="Apple SD Gothic Neo"/>
              </a:rPr>
              <a:t>결 · 마무리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Apple SD Gothic Neo"/>
              </a:rPr>
              <a:t>한 자리에 모이는 기록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972800" cy="18288"/>
          </a:xfrm>
          <a:prstGeom prst="rect">
            <a:avLst/>
          </a:prstGeom>
          <a:solidFill>
            <a:srgbClr val="E5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2157984"/>
            <a:ext cx="91440" cy="91440"/>
          </a:xfrm>
          <a:prstGeom prst="ellipse">
            <a:avLst/>
          </a:prstGeom>
          <a:solidFill>
            <a:srgbClr val="C9A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011680"/>
            <a:ext cx="10698480" cy="8961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800">
                <a:solidFill>
                  <a:srgbClr val="3A4358"/>
                </a:solidFill>
                <a:latin typeface="Apple SD Gothic Neo"/>
              </a:rPr>
              <a:t>매주의 </a:t>
            </a:r>
            <a:r>
              <a:rPr sz="1800" b="1">
                <a:solidFill>
                  <a:srgbClr val="8C6F2E"/>
                </a:solidFill>
                <a:latin typeface="Apple SD Gothic Neo"/>
              </a:rPr>
              <a:t>주보</a:t>
            </a:r>
            <a:r>
              <a:rPr sz="1800">
                <a:solidFill>
                  <a:srgbClr val="3A4358"/>
                </a:solidFill>
                <a:latin typeface="Apple SD Gothic Neo"/>
              </a:rPr>
              <a:t>, 그 안의 </a:t>
            </a:r>
            <a:r>
              <a:rPr sz="1800" b="1">
                <a:solidFill>
                  <a:srgbClr val="8C6F2E"/>
                </a:solidFill>
                <a:latin typeface="Apple SD Gothic Neo"/>
              </a:rPr>
              <a:t>공지·행사·모임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871216"/>
            <a:ext cx="91440" cy="91440"/>
          </a:xfrm>
          <a:prstGeom prst="ellipse">
            <a:avLst/>
          </a:prstGeom>
          <a:solidFill>
            <a:srgbClr val="C9A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724912"/>
            <a:ext cx="10698480" cy="8961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800">
                <a:solidFill>
                  <a:srgbClr val="3A4358"/>
                </a:solidFill>
                <a:latin typeface="Apple SD Gothic Neo"/>
              </a:rPr>
              <a:t>매일의 </a:t>
            </a:r>
            <a:r>
              <a:rPr sz="1800" b="1">
                <a:solidFill>
                  <a:srgbClr val="8C6F2E"/>
                </a:solidFill>
                <a:latin typeface="Apple SD Gothic Neo"/>
              </a:rPr>
              <a:t>말씀과 묵상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584448"/>
            <a:ext cx="91440" cy="91440"/>
          </a:xfrm>
          <a:prstGeom prst="ellipse">
            <a:avLst/>
          </a:prstGeom>
          <a:solidFill>
            <a:srgbClr val="C9A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438144"/>
            <a:ext cx="10698480" cy="8961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800" b="1">
                <a:solidFill>
                  <a:srgbClr val="8C6F2E"/>
                </a:solidFill>
                <a:latin typeface="Apple SD Gothic Neo"/>
              </a:rPr>
              <a:t>성전건축</a:t>
            </a:r>
            <a:r>
              <a:rPr sz="1800">
                <a:solidFill>
                  <a:srgbClr val="3A4358"/>
                </a:solidFill>
                <a:latin typeface="Apple SD Gothic Neo"/>
              </a:rPr>
              <a:t>의 단계별 일지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297680"/>
            <a:ext cx="91440" cy="91440"/>
          </a:xfrm>
          <a:prstGeom prst="ellipse">
            <a:avLst/>
          </a:prstGeom>
          <a:solidFill>
            <a:srgbClr val="C9A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151376"/>
            <a:ext cx="10698480" cy="8961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800">
                <a:solidFill>
                  <a:srgbClr val="3A4358"/>
                </a:solidFill>
                <a:latin typeface="Apple SD Gothic Neo"/>
              </a:rPr>
              <a:t>단체·모임의 </a:t>
            </a:r>
            <a:r>
              <a:rPr sz="1800" b="1">
                <a:solidFill>
                  <a:srgbClr val="8C6F2E"/>
                </a:solidFill>
                <a:latin typeface="Apple SD Gothic Neo"/>
              </a:rPr>
              <a:t>공지와 사진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212080"/>
            <a:ext cx="1097280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700">
                <a:solidFill>
                  <a:srgbClr val="3A4358"/>
                </a:solidFill>
                <a:latin typeface="Apple SD Gothic Neo"/>
              </a:rPr>
              <a:t>이 모든 것이 홈페이지 안에서 </a:t>
            </a:r>
            <a:r>
              <a:rPr sz="1700" b="1">
                <a:solidFill>
                  <a:srgbClr val="8C6F2E"/>
                </a:solidFill>
                <a:latin typeface="Apple SD Gothic Neo"/>
              </a:rPr>
              <a:t>연도별로 정돈</a:t>
            </a:r>
            <a:r>
              <a:rPr sz="1700">
                <a:solidFill>
                  <a:srgbClr val="3A4358"/>
                </a:solidFill>
                <a:latin typeface="Apple SD Gothic Neo"/>
              </a:rPr>
              <a:t>되어 보관됩니다.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pple SD Gothic Neo"/>
              </a:rPr>
              <a:t>본당 사목과 운영을 돕는 보조 수단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862"/>
                </a:solidFill>
                <a:latin typeface="Apple SD Gothic Neo"/>
              </a:rPr>
              <a:t>결 · 마무리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Apple SD Gothic Neo"/>
              </a:rPr>
              <a:t>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972800" cy="18288"/>
          </a:xfrm>
          <a:prstGeom prst="rect">
            <a:avLst/>
          </a:prstGeom>
          <a:solidFill>
            <a:srgbClr val="E5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01168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326880"/>
              </a:tblGrid>
              <a:tr h="685800">
                <a:tc>
                  <a:txBody>
                    <a:bodyPr lIns="100000" rIns="100000"/>
                    <a:lstStyle/>
                    <a:p>
                      <a:pPr algn="l"/>
                      <a:r>
                        <a:rPr sz="1300" b="1">
                          <a:solidFill>
                            <a:srgbClr val="1F2A44"/>
                          </a:solidFill>
                          <a:latin typeface="Apple SD Gothic Neo"/>
                        </a:rPr>
                        <a:t>구분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  <a:tc>
                  <a:txBody>
                    <a:bodyPr lIns="100000" rIns="100000"/>
                    <a:lstStyle/>
                    <a:p>
                      <a:pPr algn="l"/>
                      <a:r>
                        <a:rPr sz="1300" b="1">
                          <a:solidFill>
                            <a:srgbClr val="1F2A44"/>
                          </a:solidFill>
                          <a:latin typeface="Apple SD Gothic Neo"/>
                        </a:rPr>
                        <a:t>내용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</a:tr>
              <a:tr h="685800">
                <a:tc>
                  <a:txBody>
                    <a:bodyPr lIns="100000" rIns="100000"/>
                    <a:lstStyle/>
                    <a:p>
                      <a:pPr algn="l"/>
                      <a:r>
                        <a:rPr sz="1300">
                          <a:solidFill>
                            <a:srgbClr val="3A4358"/>
                          </a:solidFill>
                          <a:latin typeface="Apple SD Gothic Neo"/>
                        </a:rPr>
                        <a:t>매일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0000" rIns="100000"/>
                    <a:lstStyle/>
                    <a:p>
                      <a:pPr algn="l"/>
                      <a:r>
                        <a:rPr sz="1300">
                          <a:solidFill>
                            <a:srgbClr val="3A4358"/>
                          </a:solidFill>
                          <a:latin typeface="Apple SD Gothic Neo"/>
                        </a:rPr>
                        <a:t>오늘의 말씀 + 묵상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00000" rIns="100000"/>
                    <a:lstStyle/>
                    <a:p>
                      <a:pPr algn="l"/>
                      <a:r>
                        <a:rPr sz="1300">
                          <a:solidFill>
                            <a:srgbClr val="3A4358"/>
                          </a:solidFill>
                          <a:latin typeface="Apple SD Gothic Neo"/>
                        </a:rPr>
                        <a:t>매주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0000" rIns="100000"/>
                    <a:lstStyle/>
                    <a:p>
                      <a:pPr algn="l"/>
                      <a:r>
                        <a:rPr sz="1300">
                          <a:solidFill>
                            <a:srgbClr val="3A4358"/>
                          </a:solidFill>
                          <a:latin typeface="Apple SD Gothic Neo"/>
                        </a:rPr>
                        <a:t>주보 AI 추출 → 공지·행사·모임 자동 정리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00000" rIns="100000"/>
                    <a:lstStyle/>
                    <a:p>
                      <a:pPr algn="l"/>
                      <a:r>
                        <a:rPr sz="1300">
                          <a:solidFill>
                            <a:srgbClr val="3A4358"/>
                          </a:solidFill>
                          <a:latin typeface="Apple SD Gothic Neo"/>
                        </a:rPr>
                        <a:t>회원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0000" rIns="100000"/>
                    <a:lstStyle/>
                    <a:p>
                      <a:pPr algn="l"/>
                      <a:r>
                        <a:rPr sz="1300">
                          <a:solidFill>
                            <a:srgbClr val="3A4358"/>
                          </a:solidFill>
                          <a:latin typeface="Apple SD Gothic Neo"/>
                        </a:rPr>
                        <a:t>관심 단체·모임 선택 → 카카오 채널 알림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00000" rIns="100000"/>
                    <a:lstStyle/>
                    <a:p>
                      <a:pPr algn="l"/>
                      <a:r>
                        <a:rPr sz="1300">
                          <a:solidFill>
                            <a:srgbClr val="3A4358"/>
                          </a:solidFill>
                          <a:latin typeface="Apple SD Gothic Neo"/>
                        </a:rPr>
                        <a:t>기록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0000" rIns="100000"/>
                    <a:lstStyle/>
                    <a:p>
                      <a:pPr algn="l"/>
                      <a:r>
                        <a:rPr sz="1300">
                          <a:solidFill>
                            <a:srgbClr val="3A4358"/>
                          </a:solidFill>
                          <a:latin typeface="Apple SD Gothic Neo"/>
                        </a:rPr>
                        <a:t>성전건축 일지 · 본당 역사 저장소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00000" rIns="100000"/>
                    <a:lstStyle/>
                    <a:p>
                      <a:pPr algn="l"/>
                      <a:r>
                        <a:rPr sz="1300">
                          <a:solidFill>
                            <a:srgbClr val="3A4358"/>
                          </a:solidFill>
                          <a:latin typeface="Apple SD Gothic Neo"/>
                        </a:rPr>
                        <a:t>운영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0000" rIns="100000"/>
                    <a:lstStyle/>
                    <a:p>
                      <a:pPr algn="l"/>
                      <a:r>
                        <a:rPr sz="1300">
                          <a:solidFill>
                            <a:srgbClr val="3A4358"/>
                          </a:solidFill>
                          <a:latin typeface="Apple SD Gothic Neo"/>
                        </a:rPr>
                        <a:t>회원 정보 암호화 · 정기 백업 · 인증된 관리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pple SD Gothic Neo"/>
              </a:rPr>
              <a:t>본당 사목과 운영을 돕는 보조 수단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